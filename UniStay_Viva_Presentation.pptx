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ACADEMIC PROTOTYPE — VIVA PRESENTATION</a:t>
            </a:r>
          </a:p>
          <a:p>
            <a:pPr algn="ctr">
              <a:defRPr sz="4800" b="1">
                <a:solidFill>
                  <a:srgbClr val="0F172A"/>
                </a:solidFill>
              </a:defRPr>
            </a:pPr>
            <a:r>
              <a:t>UniStay</a:t>
            </a:r>
          </a:p>
          <a:p>
            <a:pPr algn="ctr">
              <a:defRPr sz="2200" b="1">
                <a:solidFill>
                  <a:srgbClr val="4F46E5"/>
                </a:solidFill>
              </a:defRPr>
            </a:pPr>
            <a:r>
              <a:t>Boarding Selection &amp; Management System</a:t>
            </a:r>
          </a:p>
          <a:p>
            <a:pPr algn="ctr">
              <a:defRPr sz="1400">
                <a:solidFill>
                  <a:srgbClr val="334155"/>
                </a:solidFill>
              </a:defRPr>
            </a:pPr>
            <a:r>
              <a:t>A Web-Based Serverless Platform for Off-Campus Student Accommodation</a:t>
            </a:r>
            <a:br/>
            <a:r>
              <a:t>at Sabaragamuwa University of Sri Lanka (SUSL)</a:t>
            </a:r>
          </a:p>
          <a:p>
            <a:br/>
            <a:pPr algn="ctr">
              <a:defRPr sz="1300" b="1">
                <a:solidFill>
                  <a:srgbClr val="0F172A"/>
                </a:solidFill>
              </a:defRPr>
            </a:pPr>
            <a:r>
              <a:t>Presented by: Saliya Wickramasingha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Why Does UniStay Exist?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1. Manual House Hunting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Students physically walk through Pambahinna, Kumbalgama &amp; nearby areas looking for vacant boarding signs, causing extreme stress and waste of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2. Pricing Transparency Issues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Lack of a centralized directory means owners charge arbitrary prices with zero benchmarks or student-side visibility.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3. Unknown Distance to Faculty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Students have no way to verify how far a property is from their specific academic faculty building before moving 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4. No Direct Communication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Heavy reliance on brokers and middlemen leads to exploitation, extra costs, and delayed information 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What UniStay Achieves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4155"/>
                </a:solidFill>
              </a:defRPr>
            </a:pPr>
            <a:r>
              <a:t>•   Develop a centralized web platform connecting students and boarding owners directly.</a:t>
            </a:r>
          </a:p>
          <a:p>
            <a:pPr>
              <a:spcAft>
                <a:spcPts val="1200"/>
              </a:spcAft>
              <a:defRPr sz="1400">
                <a:solidFill>
                  <a:srgbClr val="334155"/>
                </a:solidFill>
              </a:defRPr>
            </a:pPr>
            <a:r>
              <a:t>•   Calculate precise geographic distances from any boarding place to 7 SUSL faculties using coordinate formulas.</a:t>
            </a:r>
          </a:p>
          <a:p>
            <a:pPr>
              <a:spcAft>
                <a:spcPts val="1200"/>
              </a:spcAft>
              <a:defRPr sz="1400">
                <a:solidFill>
                  <a:srgbClr val="334155"/>
                </a:solidFill>
              </a:defRPr>
            </a:pPr>
            <a:r>
              <a:t>•   Provide advanced search, filtering, and sorting by price, gender rules (Boys/Girls), and proximity.</a:t>
            </a:r>
          </a:p>
          <a:p>
            <a:pPr>
              <a:spcAft>
                <a:spcPts val="1200"/>
              </a:spcAft>
              <a:defRPr sz="1400">
                <a:solidFill>
                  <a:srgbClr val="334155"/>
                </a:solidFill>
              </a:defRPr>
            </a:pPr>
            <a:r>
              <a:t>•   Implement a secure, role-based access control system separating student and owner dashboards.</a:t>
            </a:r>
          </a:p>
          <a:p>
            <a:pPr>
              <a:spcAft>
                <a:spcPts val="1200"/>
              </a:spcAft>
              <a:defRPr sz="1400">
                <a:solidFill>
                  <a:srgbClr val="334155"/>
                </a:solidFill>
              </a:defRPr>
            </a:pPr>
            <a:r>
              <a:t>•   Establish a direct communication channel via in-app messaging without middlemen.</a:t>
            </a:r>
          </a:p>
          <a:p>
            <a:pPr>
              <a:spcAft>
                <a:spcPts val="1200"/>
              </a:spcAft>
              <a:defRPr sz="1400">
                <a:solidFill>
                  <a:srgbClr val="334155"/>
                </a:solidFill>
              </a:defRPr>
            </a:pPr>
            <a:r>
              <a:t>•   Enable students to bookmark, save, and compare shortlisted properties on a personalized dashboard.</a:t>
            </a:r>
          </a:p>
          <a:p>
            <a:pPr>
              <a:spcAft>
                <a:spcPts val="1200"/>
              </a:spcAft>
              <a:defRPr sz="1400">
                <a:solidFill>
                  <a:srgbClr val="334155"/>
                </a:solidFill>
              </a:defRPr>
            </a:pPr>
            <a:r>
              <a:t>•   Provide boarding owners with an intuitive CRUD panel to manage listings, photos, and map coordinates.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Serverless BaaS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Step 1</a:t>
            </a:r>
          </a:p>
          <a:p>
            <a:pPr algn="ctr">
              <a:defRPr sz="1600" b="1">
                <a:solidFill>
                  <a:srgbClr val="0F172A"/>
                </a:solidFill>
              </a:defRPr>
            </a:pPr>
            <a:r>
              <a:t>Web Browser</a:t>
            </a:r>
          </a:p>
          <a:p>
            <a:br/>
            <a:pPr algn="ctr">
              <a:defRPr sz="1100">
                <a:solidFill>
                  <a:srgbClr val="334155"/>
                </a:solidFill>
              </a:defRPr>
            </a:pPr>
            <a:r>
              <a:t>HTML5, Vanilla CSS3, ES6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4688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Step 2</a:t>
            </a:r>
          </a:p>
          <a:p>
            <a:pPr algn="ctr">
              <a:defRPr sz="1600" b="1">
                <a:solidFill>
                  <a:srgbClr val="0F172A"/>
                </a:solidFill>
              </a:defRPr>
            </a:pPr>
            <a:r>
              <a:t>Firebase SDK</a:t>
            </a:r>
          </a:p>
          <a:p>
            <a:br/>
            <a:pPr algn="ctr">
              <a:defRPr sz="1100">
                <a:solidFill>
                  <a:srgbClr val="334155"/>
                </a:solidFill>
              </a:defRPr>
            </a:pPr>
            <a:r>
              <a:t>firebase-config.js &amp; navbar.js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4688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Step 3</a:t>
            </a:r>
          </a:p>
          <a:p>
            <a:pPr algn="ctr">
              <a:defRPr sz="1600" b="1">
                <a:solidFill>
                  <a:srgbClr val="0F172A"/>
                </a:solidFill>
              </a:defRPr>
            </a:pPr>
            <a:r>
              <a:t>Firebase Auth</a:t>
            </a:r>
          </a:p>
          <a:p>
            <a:br/>
            <a:pPr algn="ctr">
              <a:defRPr sz="1100">
                <a:solidFill>
                  <a:srgbClr val="334155"/>
                </a:solidFill>
              </a:defRPr>
            </a:pPr>
            <a:r>
              <a:t>Email/Password &amp; Google SSO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828800"/>
            <a:ext cx="24688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Step 4</a:t>
            </a:r>
          </a:p>
          <a:p>
            <a:pPr algn="ctr">
              <a:defRPr sz="1600" b="1">
                <a:solidFill>
                  <a:srgbClr val="0F172A"/>
                </a:solidFill>
              </a:defRPr>
            </a:pPr>
            <a:r>
              <a:t>Realtime DB</a:t>
            </a:r>
          </a:p>
          <a:p>
            <a:br/>
            <a:pPr algn="ctr">
              <a:defRPr sz="1100">
                <a:solidFill>
                  <a:srgbClr val="334155"/>
                </a:solidFill>
              </a:defRPr>
            </a:pPr>
            <a:r>
              <a:t>Cloud JSON NoSQL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Key Architectural Advantages: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 Zero server maintenance: Static hosting on GitHub Pages with direct cloud database connectivity.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 Real-time data synchronization for instant messaging and search filters.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 Client-side geospatial logic using the Haversine formula eliminating expensive API dependencies.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What The System Can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Firebase Authentication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Email/Password and Google OAuth with strict role-based page redirects.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4688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Listing Management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Full CRUD operations with client-side canvas image compression.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4688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Search &amp; Filter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Price range sliders, gender type chips (Boys/Girls), and proximity filters.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463040"/>
            <a:ext cx="24688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Distance Calculator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Auto coordinate extraction &amp; Haversine distance calculation to 7 faculties.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24688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Real-Time Messaging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Direct student-owner communication thread with live toast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840480"/>
            <a:ext cx="24688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Favorites System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Bookmark and compare shortlisted properties on personal student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24688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Interactive Map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Leaflet.js interactive map displaying all boarding locations around campus.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3840480"/>
            <a:ext cx="24688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Mobile Responsive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Custom 2-column grid layout optimized for smartphone screens.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DATABASE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Firebase Realtime Database JSON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/users/{uid}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Fields: full_name, email, role, created_at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/listings/{id}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Fields: title, price, type, lat, lng, phone, owner_id, image_url, is_rented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/favorites/{uid_listingId}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Fields: user_id, listing_id, created_at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/messages/{id}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Fields: sender_id, receiver_id, listing_id, content, is_read, created_at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GEOSPATIAL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Haversine Distance Formula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 = sin²(Δlat/2) + cos(lat₁) × cos(lat₂) × sin²(Δlng/2)</a:t>
            </a:r>
            <a:br/>
            <a:r>
              <a:t>c = 2 × atan2(√a, √(1−a))</a:t>
            </a:r>
            <a:br/>
            <a:r>
              <a:t>distance = R × c × 1.45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83280"/>
            <a:ext cx="3383280" cy="2560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Step 1: Extract Coordinates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Extract lat/lng from any Google Maps URL or short link using regex and unshortener proxy.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3383280"/>
            <a:ext cx="3383280" cy="2560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Step 2: Calculate Proximity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Apply Haversine formula in JavaScript for all 7 university faculties.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3383280"/>
            <a:ext cx="3383280" cy="2560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Step 3: Render Distances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Display exact walking distance (km) on property cards and details pages.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SYSTEM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Application Structure by User Role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Student Role &amp; Pages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 index.html — Landing page &amp; platform overview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 search.html — Search, filter &amp; sort listings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 listing_detail.html — Detailed view &amp; distance breakdown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 messages.html — Direct chat thread with landlord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 student_dashboard.html — Saved &amp; bookmarked places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Property Owner Role &amp; Pages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 dashboard.html — Manage active listings &amp; add new place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 edit_listing.html — Edit property details &amp; coordinates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 messages.html — View &amp; reply to incoming student inquiries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 explore_map.html — Interactive map overview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•  auth.html — Dedicated sign-in &amp; role selection modal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RESULTS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Expected vs. Observed Behavior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8782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Expected Behavior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Observed Result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Role-Based Access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Restrict student/owner pages by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Works as expected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Geospatial Distance 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Compute precise faculty proximity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Accurate Haversine calculation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Owner Listing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Full CRUD control over 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Works as expected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Real-Time Messaging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Direct private student-owner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Real-time delivery &amp; notifications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Favorites &amp; Bookmarks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Bookmark &amp; compare listings on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Works as expected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Mobile Responsive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2-column grid layout on mobile screens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Fully responsive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Functional Correctness Rate: ~95% based on manual test execution.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Proposed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1. Mobile Application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Develop a hybrid mobile app using Flutter or React Native to support background push notifications.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2. Payment Gateway Integration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Integrate local payment gateways (PayHere, Stripe) allowing online room booking deposits.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3. Machine Learning Price Predictor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Build a predictive data science model to estimate fair rent prices based on coordinates &amp; amenities.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4. Security &amp; Owner Verification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Add owner identity checks and email verification to prevent fraudulent listings.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Summary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•   Successfully developed a functional serverless web prototype with zero backend server overhead.</a:t>
            </a:r>
          </a:p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•   Implemented coordinate-based spatial analysis using the Haversine formula for 7 SUSL faculties.</a:t>
            </a:r>
          </a:p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•   Delivered secure role-based access control separating student and boarding owner workflows.</a:t>
            </a:r>
          </a:p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•   Enabled direct real-time messaging and live toast notification system between users.</a:t>
            </a:r>
          </a:p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•   Demonstrated practical feasibility as a student welfare platform prototype for SUSL Belihuloya.</a:t>
            </a:r>
          </a:p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•   Established a scalable foundation for future enhancements like mobile apps, payments, and ML pricing.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F46E5"/>
                </a:solidFill>
              </a:defRPr>
            </a:pPr>
            <a:r>
              <a:t>Thank You!</a:t>
            </a:r>
          </a:p>
          <a:p>
            <a:pPr algn="ctr">
              <a:defRPr sz="1800" b="1">
                <a:solidFill>
                  <a:srgbClr val="0F172A"/>
                </a:solidFill>
              </a:defRPr>
            </a:pPr>
            <a:r>
              <a:t>UniStay — Boarding Selection &amp; Management System</a:t>
            </a:r>
            <a:br/>
            <a:r>
              <a:t>Sabaragamuwa University of Sri Lanka</a:t>
            </a:r>
          </a:p>
          <a:p>
            <a:br/>
            <a:pPr algn="ctr">
              <a:defRPr sz="2000" b="1">
                <a:solidFill>
                  <a:srgbClr val="334155"/>
                </a:solidFill>
              </a:defRPr>
            </a:pPr>
            <a:r>
              <a:t>Questions &amp; Answers</a:t>
            </a:r>
          </a:p>
          <a:p>
            <a:pPr algn="ctr">
              <a:defRPr sz="1200">
                <a:solidFill>
                  <a:srgbClr val="334155"/>
                </a:solidFill>
              </a:defRPr>
            </a:pPr>
            <a:r>
              <a:t>Feel free to ask any questions about the system architecture, distance calculations, or implementation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